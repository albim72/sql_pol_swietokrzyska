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096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
- https://www.mongodb.com/docs/get-started/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
- https://www.mongodb.com/docs/manual/core/databases-and-collections/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https://www.mongodb.com/docs/manual/core/databases-and-collections/
- Plik użytkownika: Harmonogram_i_efekty_ksztalcenia_NoSQL_final(2).docx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https://www.mongodb.com/docs/v7.0/tutorial/install-mongodb-on-windows/
- https://www.mongodb.com/docs/mongodb-shell/install/
- https://www.mongodb.com/docs/compass/install/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https://www.mongodb.com/docs/mongodb-shell/
- https://www.mongodb.com/docs/compass/connect/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
- https://www.mongodb.com/docs/manual/core/databases-and-collections/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https://www.mongodb.com/docs/mongodb-shell/
- Plik użytkownika: Harmonogram_i_efekty_ksztalcenia_NoSQL_final(2).docx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https://www.mongodb.com/docs/manual/tutorial/query-documents/
- https://www.mongodb.com/docs/manual/reference/mql/query-predicates/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https://www.mongodb.com/docs/manual/core/indexes/create-index/
- https://www.mongodb.com/docs/manual/core/query-optimization/
- https://www.mongodb.com/docs/compass/indexes/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https://www.mongodb.com/docs/manual/core/aggregation-pipeline/
- https://www.mongodb.com/docs/manual/reference/operator/aggregation/group/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https://www.mongodb.com/docs/compass/
- https://www.mongodb.com/docs/compass/query/filter/
- https://www.mongodb.com/docs/manual/tutorial/backup-and-restore-tools/
- https://www.mongodb.com/docs/manual/core/backups/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https://www.mongodb.com/docs/manual/replication/
- https://www.mongodb.com/docs/manual/core/replica-set-architectures/
- https://www.mongodb.com/docs/manual/sharding/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
- https://www.mongodb.com/docs/manual/core/query-optimization/
- https://www.mongodb.com/docs/manual/core/indexes/create-index/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Plik użytkownika: Harmonogram_i_efekty_ksztalcenia_NoSQL_final(2).docx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8412480" y="1051560"/>
            <a:ext cx="2926080" cy="2926080"/>
          </a:xfrm>
          <a:prstGeom prst="ellipse">
            <a:avLst/>
          </a:prstGeom>
          <a:solidFill>
            <a:srgbClr val="123122">
              <a:alpha val="70000"/>
            </a:srgbClr>
          </a:solidFill>
          <a:ln w="12700">
            <a:solidFill>
              <a:srgbClr val="1231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961120" y="1600200"/>
            <a:ext cx="1828800" cy="1828800"/>
          </a:xfrm>
          <a:prstGeom prst="ellipse">
            <a:avLst/>
          </a:prstGeom>
          <a:solidFill>
            <a:srgbClr val="1E442F">
              <a:alpha val="85000"/>
            </a:srgbClr>
          </a:solidFill>
          <a:ln w="12700">
            <a:solidFill>
              <a:srgbClr val="1E44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58368" y="731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SZKOLENIE NoSQL · DZIEŃ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w praktyce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Instalacja, CRUD, indeksy, agregacje i administracja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310128"/>
            <a:ext cx="1335024" cy="274320"/>
          </a:xfrm>
          <a:prstGeom prst="roundRect">
            <a:avLst>
              <a:gd name="adj" fmla="val 26667"/>
            </a:avLst>
          </a:prstGeom>
          <a:solidFill>
            <a:srgbClr val="00ED64"/>
          </a:solidFill>
          <a:ln w="12700">
            <a:solidFill>
              <a:srgbClr val="00ED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740664" y="334670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Środowisko lokalne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33101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64B5F6"/>
          </a:solidFill>
          <a:ln w="12700">
            <a:solidFill>
              <a:srgbClr val="64B5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157984" y="3346704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mongosh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72384" y="33101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CC66"/>
          </a:solidFill>
          <a:ln w="12700">
            <a:solidFill>
              <a:srgbClr val="FFCC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127248" y="3346704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41648" y="3310128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B388FF"/>
          </a:solidFill>
          <a:ln w="12700">
            <a:solidFill>
              <a:srgbClr val="B38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096512" y="3346704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Warsztat techniczny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10996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 dnia i efekt końcowy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ma zostawić uczestników z działającym środowiskiem i pełnym przepływem pracy na danych.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804672" y="179222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Uruchomić środowisko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26771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14984" y="225856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Server jako usługa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74320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14984" y="27340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mongosh do pracy z komendami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4672" y="32186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4984" y="320954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jako GUI i narzędzie demonstracyjne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886200" y="155448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12212C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050792" y="179222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Przepracować dane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50792" y="226771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61104" y="225856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dokumentu pod wzorce odczytu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050792" y="274320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61104" y="27340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filtrowanie, sortowanie, projekcja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050792" y="32186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61104" y="320954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Indeksy i pierwsze agregacje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132320" y="1554480"/>
            <a:ext cx="2697480" cy="3154680"/>
          </a:xfrm>
          <a:prstGeom prst="roundRect">
            <a:avLst>
              <a:gd name="adj" fmla="val 2373"/>
            </a:avLst>
          </a:prstGeom>
          <a:solidFill>
            <a:srgbClr val="1F1A12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7296912" y="179222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Zrozumieć utrzymanie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96912" y="226771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07224" y="225856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Backup, logi, monitoring i diagnostyka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96912" y="274320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07224" y="273405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set vs sharding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296912" y="321868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07224" y="320954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Dobre praktyki przed wdrożeniem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77240" y="5074920"/>
            <a:ext cx="1065276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dnia 08:00-16:00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Układ zgodny z harmonogramem szkolenia, z naciskiem na pokaz live i warsztat końcowy.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386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960120" y="2478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08:00-09:00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633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Ekosystem NoSQL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0" y="2386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7EE2A8"/>
          </a:solidFill>
          <a:ln w="12700">
            <a:solidFill>
              <a:srgbClr val="7EE2A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749040" y="2478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09:00-10:00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33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Instalacja i konfiguracja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2386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537960" y="2478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10:15-11:15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633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agregacje i optymalizacja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35440" y="2386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87CEFA"/>
          </a:solidFill>
          <a:ln w="12700">
            <a:solidFill>
              <a:srgbClr val="87CEF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9326880" y="2478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11:15-12:15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0" y="2633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Administracja i utrzymanie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40280" y="3529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2331720" y="3621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12:45-13:45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776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Skalowanie i niezawodność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3529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D98A"/>
          </a:solidFill>
          <a:ln w="12700">
            <a:solidFill>
              <a:srgbClr val="FFD98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5120640" y="3621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13:45-14:45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776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Dobre praktyki i antywzorce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18120" y="3529584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7909560" y="3621024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15:00-16:00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09560" y="3776472"/>
            <a:ext cx="24688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Warsztat techniczny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na mapie NoSQL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Krótka orientacja w ekosystemie, bez zbaczania z głównej ścieżki dnia.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554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Rodziny technologii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11133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rodzina rozwiązuje inny problem. Dziś pracujemy na bazie dokumentowej, bo najlepiej pokazuje modelowanie pod odczyt, elastyczny schemat i szybki start w warsztatach.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0" y="1874520"/>
            <a:ext cx="1143000" cy="2331720"/>
          </a:xfrm>
          <a:prstGeom prst="roundRect">
            <a:avLst>
              <a:gd name="adj" fmla="val 6400"/>
            </a:avLst>
          </a:prstGeom>
          <a:solidFill>
            <a:srgbClr val="1B2934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376672" y="22494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76672" y="2724912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· sesje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93408" y="1874520"/>
            <a:ext cx="1143000" cy="2331720"/>
          </a:xfrm>
          <a:prstGeom prst="roundRect">
            <a:avLst>
              <a:gd name="adj" fmla="val 6400"/>
            </a:avLst>
          </a:prstGeom>
          <a:solidFill>
            <a:srgbClr val="173020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766560" y="22494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66560" y="2724912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pod zapytania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3296" y="1874520"/>
            <a:ext cx="1143000" cy="2331720"/>
          </a:xfrm>
          <a:prstGeom prst="roundRect">
            <a:avLst>
              <a:gd name="adj" fmla="val 6400"/>
            </a:avLst>
          </a:prstGeom>
          <a:solidFill>
            <a:srgbClr val="2D2416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8156448" y="22494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6448" y="2724912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kolumnowa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wysoki zapis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73184" y="1874520"/>
            <a:ext cx="1143000" cy="2331720"/>
          </a:xfrm>
          <a:prstGeom prst="roundRect">
            <a:avLst>
              <a:gd name="adj" fmla="val 6400"/>
            </a:avLst>
          </a:prstGeom>
          <a:solidFill>
            <a:srgbClr val="251A30"/>
          </a:solidFill>
          <a:ln w="127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9546336" y="22494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46336" y="2724912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relacje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863072" y="1874520"/>
            <a:ext cx="1143000" cy="2331720"/>
          </a:xfrm>
          <a:prstGeom prst="roundRect">
            <a:avLst>
              <a:gd name="adj" fmla="val 6400"/>
            </a:avLst>
          </a:prstGeom>
          <a:solidFill>
            <a:srgbClr val="2C1F22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10936224" y="224942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36224" y="2724912"/>
            <a:ext cx="996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tekstu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03520" y="4709160"/>
            <a:ext cx="6702552" cy="713232"/>
          </a:xfrm>
          <a:prstGeom prst="roundRect">
            <a:avLst>
              <a:gd name="adj" fmla="val 10256"/>
            </a:avLst>
          </a:prstGeom>
          <a:solidFill>
            <a:srgbClr val="11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5559552" y="495604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Teza dnia: MongoDB = dokumenty + szybki start + dobra platforma do pokazania wzorców NoSQL w praktyce.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danych MongoDB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Dokumenty, kolekcje i schemat projektowany pod realne wzorce odczytu.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66420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10" dirty="0"/>
          </a:p>
        </p:txBody>
      </p:sp>
      <p:sp>
        <p:nvSpPr>
          <p:cNvPr id="9" name="Text 7"/>
          <p:cNvSpPr/>
          <p:nvPr/>
        </p:nvSpPr>
        <p:spPr>
          <a:xfrm>
            <a:off x="960120" y="1655064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są przechowywane jako dokumenty BSON grupowane w kolekcje.</a:t>
            </a:r>
            <a:endParaRPr lang="en-US" sz="1610" dirty="0"/>
          </a:p>
        </p:txBody>
      </p:sp>
      <p:sp>
        <p:nvSpPr>
          <p:cNvPr id="10" name="Text 8"/>
          <p:cNvSpPr/>
          <p:nvPr/>
        </p:nvSpPr>
        <p:spPr>
          <a:xfrm>
            <a:off x="749808" y="213969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1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Elastyczny schemat nie oznacza braku zasad. Walidacja i kontrakt danych dalej mają znaczenie.</a:t>
            </a:r>
            <a:endParaRPr lang="en-US" sz="1610" dirty="0"/>
          </a:p>
        </p:txBody>
      </p:sp>
      <p:sp>
        <p:nvSpPr>
          <p:cNvPr id="12" name="Text 10"/>
          <p:cNvSpPr/>
          <p:nvPr/>
        </p:nvSpPr>
        <p:spPr>
          <a:xfrm>
            <a:off x="749808" y="261518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1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Zagnieżdżanie i tablice ograniczają potrzebę kosztownych JOIN-ów aplikacyjnych.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749808" y="30906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10" dirty="0"/>
          </a:p>
        </p:txBody>
      </p:sp>
      <p:sp>
        <p:nvSpPr>
          <p:cNvPr id="15" name="Text 13"/>
          <p:cNvSpPr/>
          <p:nvPr/>
        </p:nvSpPr>
        <p:spPr>
          <a:xfrm>
            <a:off x="960120" y="3081528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 wyjścia to pytanie: jak aplikacja czyta i zapisuje dane najczęściej?</a:t>
            </a:r>
            <a:endParaRPr lang="en-US" sz="161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6400800" y="1600200"/>
            <a:ext cx="498348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528816" y="1655064"/>
            <a:ext cx="4727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przykładowy dokument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10528" y="1947672"/>
            <a:ext cx="4764024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nazwa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"Jan Kowalski"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miasto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"Lublin"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"nowe"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produkty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nazwa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"Mysz"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ilosc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99.99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nazwa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"Klawiatura"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ilosc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150.00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platnosc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"blik"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oplacone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utworzono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ISODate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"2026-04-02T08:15:00Z"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589788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Projektujemy nie „tabelę bez tabel”, tylko agregat danych, </a:t>
            </a:r>
            <a:r>
              <a:rPr lang="en-US" sz="1500" dirty="0" err="1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który</a:t>
            </a:r>
            <a:r>
              <a:rPr lang="en-US" sz="150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 być szybki w najważniejszych scenariuszach biznesowych.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Instalacja środowiska na Windows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potrzeby szkolenia wystarczy lokalny serwer, shell i GUI.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384048" cy="502920"/>
          </a:xfrm>
          <a:prstGeom prst="chevron">
            <a:avLst/>
          </a:prstGeom>
          <a:solidFill>
            <a:srgbClr val="263341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6766560" y="2834640"/>
            <a:ext cx="384048" cy="502920"/>
          </a:xfrm>
          <a:prstGeom prst="chevron">
            <a:avLst/>
          </a:prstGeom>
          <a:solidFill>
            <a:srgbClr val="263341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960120" y="2011680"/>
            <a:ext cx="438912" cy="438912"/>
          </a:xfrm>
          <a:prstGeom prst="ellipse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36192" y="20848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Community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6974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Instalacja jako usługa systemowa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lokalnym komputerze.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4160520" y="19202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52331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297680" y="2011680"/>
            <a:ext cx="438912" cy="438912"/>
          </a:xfrm>
          <a:prstGeom prst="ellipse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297680" y="21305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73752" y="20848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25112" y="26974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Powłoka do CRUD, indeksów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agregacji podczas live codingu.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7498080" y="19202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2A2418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7635240" y="2011680"/>
            <a:ext cx="438912" cy="438912"/>
          </a:xfrm>
          <a:prstGeom prst="ellipse">
            <a:avLst/>
          </a:prstGeom>
          <a:solidFill>
            <a:srgbClr val="FFCC66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7635240" y="21305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11312" y="20848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Compass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62672" y="26974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do przeglądania kolekcji,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filtrów, indeksów i pipeline’ów.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841248" y="4617720"/>
            <a:ext cx="10469880" cy="713232"/>
          </a:xfrm>
          <a:prstGeom prst="roundRect">
            <a:avLst>
              <a:gd name="adj" fmla="val 8974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078992" y="48280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5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550" dirty="0" err="1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ajlepiej</a:t>
            </a:r>
            <a:r>
              <a:rPr lang="en-US" sz="155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zostawić instalację w wariancie domyślnym: MongoD as a Service, Network Service user oraz połączenie do localhost:27017.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Pierwsze uruchomienie i połączenie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Najpierw sprawdzamy usługę, potem shell, na końcu GUI.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960120" y="1728216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Usługa MongoDB działa w tle i nasłuchuje domyślnie na porcie 27017.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749808" y="226771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mongosh jest najszybszy do demonstracji komend, tworzenia kolekcji i szybkich poprawek.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49808" y="279806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przydaje się do wizualizacji danych oraz pokazania indeksów i agregacji bez terminala.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5760720" y="169164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5760720" y="1691640"/>
            <a:ext cx="274320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888736" y="1746504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70448" y="2039112"/>
            <a:ext cx="252374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mongosh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szkolenieMongo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dbs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collections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32520" y="1691640"/>
            <a:ext cx="2542032" cy="2057400"/>
          </a:xfrm>
          <a:prstGeom prst="roundRect">
            <a:avLst>
              <a:gd name="adj" fmla="val 3556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8732520" y="1691640"/>
            <a:ext cx="2542032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8860536" y="174650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42248" y="2039112"/>
            <a:ext cx="23225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mongodb://localhost:27017/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Następnie: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New Connection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Paste URI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Connect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742432" y="416052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5989320" y="4736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Uruchom shell → załóż bazę `szkolenieMongo` → wstaw 1 dokument → odśwież Compass.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jest pierwszy moment „dzieje się naprawdę”.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przykładowy do warsztatów: kolekcja „zamówienia”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prosty przypadek pozwala pokazać modelowanie, CRUD, indeks i agregację bez chaosu.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klienta zapisujemy jako snapshot, jeśli chcemy czytać je razem z zamówieniem.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749808" y="213055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60120" y="212140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produktów jest tablicą, bo naturalnie należy do jednego dokumentu zamówienia.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49808" y="26334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960120" y="262432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 `status` nadaje się do filtrowania, a `utworzono` do sortowania i raportów.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749808" y="31363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960120" y="312724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Jeśli coś zmienia się często i niezależnie, nie zawsze warto to zagnieżdżać.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5989320" y="16002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5989320" y="1600200"/>
            <a:ext cx="507492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117336" y="1655064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do live codingu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99048" y="1947672"/>
            <a:ext cx="485546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"Jan Kowalski"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miasto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"Lublin"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"nowe"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kwota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249.99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produkty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nazwa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"Mysz"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ilosc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99.99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nazwa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"Klawiatura"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ilosc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cena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150.00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utworzono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989320" y="5870448"/>
            <a:ext cx="5074920" cy="475488"/>
          </a:xfrm>
          <a:prstGeom prst="roundRect">
            <a:avLst>
              <a:gd name="adj" fmla="val 11538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6217920" y="6016752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 projektowe do grupy: co czytamy razem, a co aktualizujemy niezależnie?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w mongosh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Najpierw podstawowe operacje, potem dopiero optymalizacja i pipeline.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170078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923544" y="169164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pokazuje, jak wygląda dokument w praktyce.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713232" y="220370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923544" y="219456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uczy filtrowania i szybkiego sprawdzania stanu kolekcji.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713232" y="270662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923544" y="269748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ujawnia, że modyfikujemy dokument, a nie wiersz w tabeli.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713232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923544" y="320040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domyka pełny obieg pracy na danych.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4800600" y="1600200"/>
            <a:ext cx="6355080" cy="3840480"/>
          </a:xfrm>
          <a:prstGeom prst="roundRect">
            <a:avLst>
              <a:gd name="adj" fmla="val 1905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800600" y="1600200"/>
            <a:ext cx="635508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928616" y="1655064"/>
            <a:ext cx="6099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demo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0328" y="1947672"/>
            <a:ext cx="613562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"Anna"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"nowe"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kwota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"nowe"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"Anna"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"w_realizacji"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"Anna"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Filtrowanie, sortowanie i projekcja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uczestnicy zaczynają naprawdę „czytać” bazę, a nie tylko wpisywać komendy.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169164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493776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877824" y="1746504"/>
            <a:ext cx="4681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patterns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2039112"/>
            <a:ext cx="4718304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"nowe"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kwota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$gt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kwota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utworzono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1645920" cy="1737360"/>
          </a:xfrm>
          <a:prstGeom prst="roundRect">
            <a:avLst>
              <a:gd name="adj" fmla="val 3889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126480" y="2359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2743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zawęża</a:t>
            </a:r>
            <a:endParaRPr lang="en-US" sz="1370" dirty="0"/>
          </a:p>
          <a:p>
            <a:pPr marL="0" indent="0" algn="ctr">
              <a:buNone/>
            </a:pPr>
            <a:r>
              <a:rPr lang="en-US" sz="137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zbiór dokumentów</a:t>
            </a:r>
            <a:endParaRPr lang="en-US" sz="1370" dirty="0"/>
          </a:p>
        </p:txBody>
      </p:sp>
      <p:sp>
        <p:nvSpPr>
          <p:cNvPr id="15" name="Shape 13"/>
          <p:cNvSpPr/>
          <p:nvPr/>
        </p:nvSpPr>
        <p:spPr>
          <a:xfrm>
            <a:off x="8001000" y="2011680"/>
            <a:ext cx="1645920" cy="1737360"/>
          </a:xfrm>
          <a:prstGeom prst="roundRect">
            <a:avLst>
              <a:gd name="adj" fmla="val 3889"/>
            </a:avLst>
          </a:prstGeom>
          <a:solidFill>
            <a:srgbClr val="152331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8092440" y="2359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Projekcja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zwraca tylko</a:t>
            </a:r>
            <a:endParaRPr lang="en-US" sz="1370" dirty="0"/>
          </a:p>
          <a:p>
            <a:pPr marL="0" indent="0" algn="ctr">
              <a:buNone/>
            </a:pPr>
            <a:r>
              <a:rPr lang="en-US" sz="137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potrzebne pola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9966960" y="2011680"/>
            <a:ext cx="1645920" cy="1737360"/>
          </a:xfrm>
          <a:prstGeom prst="roundRect">
            <a:avLst>
              <a:gd name="adj" fmla="val 3889"/>
            </a:avLst>
          </a:prstGeom>
          <a:solidFill>
            <a:srgbClr val="2A2418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10058400" y="23591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Sortowanie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04120" y="27432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ustawia kolejność</a:t>
            </a:r>
            <a:endParaRPr lang="en-US" sz="1370" dirty="0"/>
          </a:p>
          <a:p>
            <a:pPr marL="0" indent="0" algn="ctr">
              <a:buNone/>
            </a:pPr>
            <a:r>
              <a:rPr lang="en-US" sz="137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wyników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6080760" y="4160520"/>
            <a:ext cx="5120640" cy="1188720"/>
          </a:xfrm>
          <a:prstGeom prst="roundRect">
            <a:avLst>
              <a:gd name="adj" fmla="val 5385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309360" y="44074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Złota zasada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Najpierw czytelne zapytanie, potem pomiar, a dopiero później indeks. Nie zgadujemy wydajności na ślepo.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Indeksy i wydajność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ma pomagać konkretnym wzorcom zapytań, nie być ozdobą kolekcji.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166420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41832" y="1655064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przyspiesza filtrowanie i sortowanie, ale kosztuje przy zapisie i zajmuje miejsce.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31520" y="213969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41832" y="2130552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Budujemy go na polach, które naprawdę pojawiają się w zapytaniach i sortowaniach.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731520" y="261518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41832" y="2606040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dokumentów zagnieżdżonych używamy notacji kropkowej.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941832" y="3081528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Zaczynamy od prostego indeksu, potem ewentualnie przechodzimy do złożonych wariantów.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589788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indeksu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1540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indeksem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2240280"/>
            <a:ext cx="0" cy="1828800"/>
          </a:xfrm>
          <a:prstGeom prst="line">
            <a:avLst/>
          </a:prstGeom>
          <a:noFill/>
          <a:ln w="12700">
            <a:solidFill>
              <a:srgbClr val="FF6B6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5989320" y="2148840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2C1F22"/>
          </a:solidFill>
          <a:ln w="12700">
            <a:solidFill>
              <a:srgbClr val="3B2A3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5989320" y="2487168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2C1F22"/>
          </a:solidFill>
          <a:ln w="12700">
            <a:solidFill>
              <a:srgbClr val="3B2A3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5989320" y="282549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2C1F22"/>
          </a:solidFill>
          <a:ln w="12700">
            <a:solidFill>
              <a:srgbClr val="3B2A3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5989320" y="3163824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2C1F22"/>
          </a:solidFill>
          <a:ln w="12700">
            <a:solidFill>
              <a:srgbClr val="3B2A3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5989320" y="350215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2C1F22"/>
          </a:solidFill>
          <a:ln w="12700">
            <a:solidFill>
              <a:srgbClr val="3B2A3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5989320" y="3840480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2C1F22"/>
          </a:solidFill>
          <a:ln w="12700">
            <a:solidFill>
              <a:srgbClr val="3B2A3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0" cy="1783080"/>
          </a:xfrm>
          <a:prstGeom prst="line">
            <a:avLst/>
          </a:prstGeom>
          <a:noFill/>
          <a:ln w="12700">
            <a:solidFill>
              <a:srgbClr val="00ED6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8915400" y="210312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183221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8915400" y="242316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183221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8915400" y="274320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183221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8915400" y="306324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183221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8915400" y="3383280"/>
            <a:ext cx="1188720" cy="182880"/>
          </a:xfrm>
          <a:prstGeom prst="roundRect">
            <a:avLst>
              <a:gd name="adj" fmla="val 15000"/>
            </a:avLst>
          </a:prstGeom>
          <a:solidFill>
            <a:srgbClr val="183221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7406640" y="2788920"/>
            <a:ext cx="594360" cy="457200"/>
          </a:xfrm>
          <a:prstGeom prst="chevron">
            <a:avLst/>
          </a:prstGeom>
          <a:solidFill>
            <a:srgbClr val="263341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8001000" y="2706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skanowania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więcej trafień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55778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Shape 32"/>
          <p:cNvSpPr/>
          <p:nvPr/>
        </p:nvSpPr>
        <p:spPr>
          <a:xfrm>
            <a:off x="5577840" y="4617720"/>
            <a:ext cx="544068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5705856" y="4672584"/>
            <a:ext cx="5184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indeks demo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87568" y="4965192"/>
            <a:ext cx="52212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utworzono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getIndexes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Agregacje: pipeline myślenia o danych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etap bierze dokumenty wejściowe i przepuszcza je przez kolejne transformacje.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2697480"/>
            <a:ext cx="91440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0" y="2697480"/>
            <a:ext cx="91440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6812280" y="2697480"/>
            <a:ext cx="91440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1463040" cy="1691640"/>
          </a:xfrm>
          <a:prstGeom prst="roundRect">
            <a:avLst>
              <a:gd name="adj" fmla="val 4375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978408" y="22128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wybór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dokumentów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3108960" y="1828800"/>
            <a:ext cx="1463040" cy="1691640"/>
          </a:xfrm>
          <a:prstGeom prst="roundRect">
            <a:avLst>
              <a:gd name="adj" fmla="val 4375"/>
            </a:avLst>
          </a:prstGeom>
          <a:solidFill>
            <a:srgbClr val="152331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218688" y="22128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$unwind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rozpakowanie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tablicy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349240" y="1828800"/>
            <a:ext cx="1463040" cy="1691640"/>
          </a:xfrm>
          <a:prstGeom prst="roundRect">
            <a:avLst>
              <a:gd name="adj" fmla="val 4375"/>
            </a:avLst>
          </a:prstGeom>
          <a:solidFill>
            <a:srgbClr val="2A2418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458968" y="22128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$group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sumowanie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grupowanie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589520" y="1828800"/>
            <a:ext cx="1463040" cy="1691640"/>
          </a:xfrm>
          <a:prstGeom prst="roundRect">
            <a:avLst>
              <a:gd name="adj" fmla="val 4375"/>
            </a:avLst>
          </a:prstGeom>
          <a:solidFill>
            <a:srgbClr val="241A30"/>
          </a:solidFill>
          <a:ln w="127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699248" y="22128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$sort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2668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ustalenie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kolejności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326880" y="1600200"/>
            <a:ext cx="2240280" cy="4206240"/>
          </a:xfrm>
          <a:prstGeom prst="roundRect">
            <a:avLst>
              <a:gd name="adj" fmla="val 3265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9326880" y="1600200"/>
            <a:ext cx="224028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9454896" y="1655064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36608" y="1947672"/>
            <a:ext cx="202082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zamowienia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$match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"nowe"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$unwind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"$produkty"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$group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"$miasto"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"$kwota"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liczbaPozycji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$sort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prowadzeniu dobrze działa metafora „taśmy”: dokumenty wchodzą z lewej, wychodzą z prawej, a każdy etap coś z nimi robi.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Compass, monitoring i backup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Warstwa operacyjna ma być lekka, praktyczna i możliwa do pokazania bez ciężkiej administracji klastra.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4892040" cy="3977640"/>
          </a:xfrm>
          <a:prstGeom prst="roundRect">
            <a:avLst>
              <a:gd name="adj" fmla="val 1839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24128" y="1965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na zajęciach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4128" y="239572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1234440" y="238658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przegląd baz, kolekcji i dokumentów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1024128" y="287121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1234440" y="28620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filtry, sortowanie i projekcja bez terminala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1024128" y="334670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1234440" y="333756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zarządzanie indeksami oraz pipeline builder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1024128" y="38221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1234440" y="38130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czytelna demonstracja zmian po komendach z shell-a</a:t>
            </a:r>
            <a:endParaRPr lang="en-US" sz="1470" dirty="0"/>
          </a:p>
        </p:txBody>
      </p:sp>
      <p:sp>
        <p:nvSpPr>
          <p:cNvPr id="18" name="Shape 16"/>
          <p:cNvSpPr/>
          <p:nvPr/>
        </p:nvSpPr>
        <p:spPr>
          <a:xfrm>
            <a:off x="5989320" y="169164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236208" y="1965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administracyjne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36208" y="239572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6446520" y="2386584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sprawdź usługę i logi, gdy połączenie nie działa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6236208" y="287121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6446520" y="2862072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używaj mongodump / mongorestore do prostych kopii i przywracania</a:t>
            </a:r>
            <a:endParaRPr lang="en-US" sz="1470" dirty="0"/>
          </a:p>
        </p:txBody>
      </p:sp>
      <p:sp>
        <p:nvSpPr>
          <p:cNvPr id="24" name="Text 22"/>
          <p:cNvSpPr/>
          <p:nvPr/>
        </p:nvSpPr>
        <p:spPr>
          <a:xfrm>
            <a:off x="6236208" y="334670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6446520" y="3337560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większych systemów potrzebne są dojrzalsze strategie backupowe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6236208" y="38221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FF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6446520" y="3813048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szkoleniu pokazuj zasadę, nie buduj pełnej platformy operacyjnej</a:t>
            </a:r>
            <a:endParaRPr lang="en-US" sz="1470" dirty="0"/>
          </a:p>
        </p:txBody>
      </p:sp>
      <p:sp>
        <p:nvSpPr>
          <p:cNvPr id="28" name="Shape 26"/>
          <p:cNvSpPr/>
          <p:nvPr/>
        </p:nvSpPr>
        <p:spPr>
          <a:xfrm>
            <a:off x="6400800" y="4297680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0E151C"/>
          </a:solidFill>
          <a:ln w="12700">
            <a:solidFill>
              <a:srgbClr val="23313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6400800" y="4297680"/>
            <a:ext cx="4526280" cy="256032"/>
          </a:xfrm>
          <a:prstGeom prst="rect">
            <a:avLst/>
          </a:prstGeom>
          <a:solidFill>
            <a:srgbClr val="18232D"/>
          </a:solidFill>
          <a:ln w="12700">
            <a:solidFill>
              <a:srgbClr val="18232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6528816" y="4352544"/>
            <a:ext cx="4270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demo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10528" y="4645152"/>
            <a:ext cx="4306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mongodump --db szkolenieMongo --out backup/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mongorestore backup/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Skalowanie i niezawodność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Zaczynamy od prostego wdrożenia, ale tłumaczymy, dokąd prowadzi ścieżka produkcyjna.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44368" y="2816352"/>
            <a:ext cx="987552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7333488" y="2816352"/>
            <a:ext cx="1024128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67004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proste środowiska dev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pojedynczy serwer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931920" y="1417320"/>
            <a:ext cx="3383280" cy="2880360"/>
          </a:xfrm>
          <a:prstGeom prst="roundRect">
            <a:avLst>
              <a:gd name="adj" fmla="val 2540"/>
            </a:avLst>
          </a:prstGeom>
          <a:solidFill>
            <a:srgbClr val="152331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754880" y="17647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set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56048" y="2743200"/>
            <a:ext cx="804672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5760720" y="2743200"/>
            <a:ext cx="804672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370832" y="2359152"/>
            <a:ext cx="713232" cy="713232"/>
          </a:xfrm>
          <a:prstGeom prst="ellipse">
            <a:avLst/>
          </a:prstGeom>
          <a:solidFill>
            <a:srgbClr val="183B2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315968" y="315468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449824" y="2359152"/>
            <a:ext cx="713232" cy="713232"/>
          </a:xfrm>
          <a:prstGeom prst="ellipse">
            <a:avLst/>
          </a:prstGeom>
          <a:solidFill>
            <a:srgbClr val="23313E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5394960" y="315468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528816" y="2359152"/>
            <a:ext cx="713232" cy="713232"/>
          </a:xfrm>
          <a:prstGeom prst="ellipse">
            <a:avLst/>
          </a:prstGeom>
          <a:solidFill>
            <a:srgbClr val="23313E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473952" y="315468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4526280" y="35478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 dostępność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replikacja danych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 wyjścia do produkcji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8366760" y="141732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2A2418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9144000" y="17647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796528" y="2340864"/>
            <a:ext cx="566928" cy="749808"/>
          </a:xfrm>
          <a:prstGeom prst="roundRect">
            <a:avLst>
              <a:gd name="adj" fmla="val 8065"/>
            </a:avLst>
          </a:prstGeom>
          <a:solidFill>
            <a:srgbClr val="3A302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8778240" y="315468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A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582912" y="2340864"/>
            <a:ext cx="566928" cy="749808"/>
          </a:xfrm>
          <a:prstGeom prst="roundRect">
            <a:avLst>
              <a:gd name="adj" fmla="val 8065"/>
            </a:avLst>
          </a:prstGeom>
          <a:solidFill>
            <a:srgbClr val="3A302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9564624" y="315468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B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0369296" y="2340864"/>
            <a:ext cx="566928" cy="749808"/>
          </a:xfrm>
          <a:prstGeom prst="roundRect">
            <a:avLst>
              <a:gd name="adj" fmla="val 8065"/>
            </a:avLst>
          </a:prstGeom>
          <a:solidFill>
            <a:srgbClr val="3A302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10351008" y="315468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C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8823960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 pozioma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 shardujący ma znaczenie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robić „na zapas”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68680" y="498348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produkcji standardem jest myślenie w kategoriach replica set. Sharding wchodzi do gry wtedy, gdy naprawdę brakuje skali pojedynczego klastra.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Dobre praktyki i antywzorce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Najczęstsze błędy wynikają nie z narzędzia, tylko z kopiowania SQL 1:1 albo zgadywania wydajności.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78992" y="2048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24871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9304" y="2478024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projektuj pod najczęstsze zapytania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301752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9304" y="3008376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mierz i dopiero potem dodawaj indeksy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35478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9304" y="3538728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ustal reguły schematu mimo elastyczności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407822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9304" y="4069080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rozdziel dane często zmienne od czytanych razem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46085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9304" y="4599432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pokazuj uczestnikom skutki zmian w Compassie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27648" y="173736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2A1C1C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6583680" y="20482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rób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48716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2478024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kopiuj modelu relacyjnego bez refleksji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301752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93992" y="3008376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indeksuj wszystkiego „na wszelki wypadek”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35478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93992" y="3538728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traktuj elastycznego schematu jak chaosu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0" y="407822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93992" y="4069080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sharduj zanim nie znasz wzorców ruchu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46085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93992" y="4599432"/>
            <a:ext cx="3995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kończ dnia bez samodzielnego ćwiczenia uczestników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Warsztat techniczny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Uczestnicy powinni przejść samodzielnie przez pełną mini-ścieżkę od modelu do raportu.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78992" y="1938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Zadanie bazowe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992" y="233172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9304" y="2322576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Utwórz kolekcję `zamowienia` albo `rezerwacje`.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84378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9304" y="2834640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Wstaw co najmniej 5 dokumentów.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335584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9304" y="3346704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Wykonaj 2 zapytania filtrujące i 1 sortowanie.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86791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9304" y="3858768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Zaktualizuj 1 dokument i usuń 1 dokument.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43799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9304" y="4370832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Dodaj indeks na polu używanym w filtrowaniu.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78992" y="489204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9304" y="4882896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Zbuduj 1 prostą agregację z `$group` lub `$sort`.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20840" y="1645920"/>
            <a:ext cx="4572000" cy="2148840"/>
          </a:xfrm>
          <a:prstGeom prst="roundRect">
            <a:avLst>
              <a:gd name="adj" fmla="val 3404"/>
            </a:avLst>
          </a:prstGeom>
          <a:solidFill>
            <a:srgbClr val="13231A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699516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Kryteria omówienia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95160" y="23225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05472" y="231343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model odpowiada na pytania biznesowe?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95160" y="27797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05472" y="277063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indeks wspiera realne zapytanie?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323697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05472" y="322783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agregacja daje sensowny wynik?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720840" y="406908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241A30"/>
          </a:solidFill>
          <a:ln w="12700">
            <a:solidFill>
              <a:srgbClr val="B388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6995160" y="4370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dla szybszych osób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95160" y="47548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205472" y="4745736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dodać zagnieżdżony dokument płatności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995160" y="519379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205472" y="518464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zrobić agregację po mieście lub statusie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95160" y="563270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205472" y="5623560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porównać efekt przed i po utworzeniu indeksu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ED64"/>
          </a:solidFill>
          <a:ln w="12700">
            <a:solidFill>
              <a:srgbClr val="00ED6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DZIEŃ 2 · MONGODB W PRAKTYCE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247120" y="641908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30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dnia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Jeśli grupa przejdzie tę checklistę, dzień 2 jest domknięty i gotowy na przejście do migracji oraz wdrożenia.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16212B"/>
          </a:solidFill>
          <a:ln w="12700">
            <a:solidFill>
              <a:srgbClr val="26334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1307592" y="2139696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działa lokalnie jako usługa.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1097280" y="2670048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307592" y="266090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Uczestnicy potrafią połączyć się przez mongosh i Compass.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1097280" y="3191256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1307592" y="3182112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Powstał przykładowy model dokumentu pod konkretne zapytania.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1097280" y="371246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1307592" y="3703320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Zostały przećwiczone CRUD, filtrowanie, sortowanie i projekcja.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1097280" y="4233672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1307592" y="4224528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Powstał co najmniej jeden indeks oraz jedna agregacja.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1097280" y="4754880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1307592" y="4745736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Grupa rozumie różnicę między standalone, replica set i shardingiem.</a:t>
            </a:r>
            <a:endParaRPr lang="en-US" sz="1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2707</Words>
  <Application>Microsoft Office PowerPoint</Application>
  <PresentationFormat>Panoramiczny</PresentationFormat>
  <Paragraphs>358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w praktyce - dzień 2 szkolenia</dc:title>
  <dc:subject>Dzień 2 szkolenia NoSQL: MongoDB w praktyce</dc:subject>
  <dc:creator>OpenAI</dc:creator>
  <cp:lastModifiedBy>Marcin Albiniak</cp:lastModifiedBy>
  <cp:revision>2</cp:revision>
  <dcterms:created xsi:type="dcterms:W3CDTF">2026-04-02T05:11:04Z</dcterms:created>
  <dcterms:modified xsi:type="dcterms:W3CDTF">2026-04-02T05:22:37Z</dcterms:modified>
</cp:coreProperties>
</file>