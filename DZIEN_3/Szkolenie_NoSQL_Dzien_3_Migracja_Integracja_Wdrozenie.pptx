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965960" cy="347472"/>
          </a:xfrm>
          <a:prstGeom prst="roundRect">
            <a:avLst>
              <a:gd name="adj" fmla="val 42105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852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</a:rPr>
              <a:t>SZKOLENIE NOSQL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Dzień 3. Migracja, integracja i wdrożenie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219456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mapowania danych i strategii ETL/ELT po architekturę docelową, plan wdrożenia oraz rekomendacje produkcyjne.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4343400"/>
            <a:ext cx="1783080" cy="1051560"/>
          </a:xfrm>
          <a:prstGeom prst="roundRect">
            <a:avLst>
              <a:gd name="adj" fmla="val 13913"/>
            </a:avLst>
          </a:prstGeom>
          <a:solidFill>
            <a:srgbClr val="1D4ED8">
              <a:alpha val="9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4526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Migracja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6656" y="4828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DDE7FF"/>
                </a:solidFill>
              </a:rPr>
              <a:t>mapowanie danych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DDE7FF"/>
                </a:solidFill>
              </a:rPr>
              <a:t>ryzyka i walidacja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2624328" y="4343400"/>
            <a:ext cx="1783080" cy="1051560"/>
          </a:xfrm>
          <a:prstGeom prst="roundRect">
            <a:avLst>
              <a:gd name="adj" fmla="val 13913"/>
            </a:avLst>
          </a:prstGeom>
          <a:solidFill>
            <a:srgbClr val="7C3AED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61488" y="4526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Integracja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34056" y="4828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DDE7FF"/>
                </a:solidFill>
              </a:rPr>
              <a:t>API, serializacja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DDE7FF"/>
                </a:solidFill>
              </a:rPr>
              <a:t>spójność i transakcje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681728" y="4343400"/>
            <a:ext cx="1783080" cy="1051560"/>
          </a:xfrm>
          <a:prstGeom prst="roundRect">
            <a:avLst>
              <a:gd name="adj" fmla="val 13913"/>
            </a:avLst>
          </a:prstGeom>
          <a:solidFill>
            <a:srgbClr val="059669">
              <a:alpha val="9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18888" y="4526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Wdrożenie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91456" y="4828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DDE7FF"/>
                </a:solidFill>
              </a:rPr>
              <a:t>architektura, testy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dirty="0">
                <a:solidFill>
                  <a:srgbClr val="DDE7FF"/>
                </a:solidFill>
              </a:rPr>
              <a:t>odbiór i utrzymanie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680960" y="1051560"/>
            <a:ext cx="338328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920240"/>
            <a:ext cx="3383280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2788920"/>
            <a:ext cx="338328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9144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08:00–09:00   Migracja z baz relacyjnych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726680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09:00–10:00   ETL/ELT i cut-over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726680" y="2651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10:15–16:00   Integracja, architektura, wdrożenie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66928" y="61447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08:00–16:00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6144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5FF"/>
                </a:solidFill>
              </a:rPr>
              <a:t>materiał do szkolenia multimedialnego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5FF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SZKOLENIE NOSQL • DZIEŃ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dnia i logika szkolenia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</a:rPr>
              <a:t>Każdy moduł dokłada kolejny klocek: od rozpoznania danych źródłowych do gotowości produkcyjnej.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132588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3560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08:00-09:00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29968" y="139903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46304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Migracja z baz relacyjnych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4800600" y="139903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Identyfikacja danych, mapowanie struktur, różnice SQL vs NoSQL, analiza ryzyk.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66928" y="182880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93852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09:00-10:00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29968" y="190195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96596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Strategie ETL/ELT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4800600" y="190195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Techniki migracji, cut-over, walidacja danych, kontrola jakości.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66928" y="233172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4414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10:00-10:15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29968" y="240487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46888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Przerwa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4800600" y="240487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66928" y="283464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94436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10:15-11:15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29968" y="290779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97180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Integracja z aplikacją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4800600" y="290779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Warstwa dostępu do danych, API, serializacja, transakcyjność i spójność.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66928" y="333756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44728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11:15-12:15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29968" y="341071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347472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Architektura docelowa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4800600" y="341071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Dobór technologii, środowiska, bezpieczeństwo, utrzymanie.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66928" y="384048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95020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12:15-12:45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029968" y="391363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97764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Przerwa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4800600" y="391363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566928" y="434340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45312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12:45-13:45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029968" y="441655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448056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Plan wdrożenia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4800600" y="441655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Etapy wdrożenia, role interesariuszy, plan testów i odbioru.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566928" y="484632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9560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13:45-14:45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029968" y="491947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0" y="498348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Studium przypadku</a:t>
            </a:r>
            <a:endParaRPr lang="en-US" sz="1060" dirty="0"/>
          </a:p>
        </p:txBody>
      </p:sp>
      <p:sp>
        <p:nvSpPr>
          <p:cNvPr id="46" name="Text 44"/>
          <p:cNvSpPr/>
          <p:nvPr/>
        </p:nvSpPr>
        <p:spPr>
          <a:xfrm>
            <a:off x="4800600" y="491947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Od wymagań do architektury i planu wdrożeniowego przykładowego rozwiązania.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566928" y="534924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545896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14:45-15:00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029968" y="542239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548640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Przerwa</a:t>
            </a:r>
            <a:endParaRPr lang="en-US" sz="1060" dirty="0"/>
          </a:p>
        </p:txBody>
      </p:sp>
      <p:sp>
        <p:nvSpPr>
          <p:cNvPr id="51" name="Text 49"/>
          <p:cNvSpPr/>
          <p:nvPr/>
        </p:nvSpPr>
        <p:spPr>
          <a:xfrm>
            <a:off x="4800600" y="542239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566928" y="5852160"/>
            <a:ext cx="11064240" cy="448056"/>
          </a:xfrm>
          <a:prstGeom prst="roundRect">
            <a:avLst>
              <a:gd name="adj" fmla="val 32653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596188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15:00-16:00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029968" y="5925312"/>
            <a:ext cx="2560320" cy="283464"/>
          </a:xfrm>
          <a:prstGeom prst="roundRect">
            <a:avLst>
              <a:gd name="adj" fmla="val 3871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03120" y="5989320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Podsumowanie i sesja pytań</a:t>
            </a:r>
            <a:endParaRPr lang="en-US" sz="1060" dirty="0"/>
          </a:p>
        </p:txBody>
      </p:sp>
      <p:sp>
        <p:nvSpPr>
          <p:cNvPr id="56" name="Text 54"/>
          <p:cNvSpPr/>
          <p:nvPr/>
        </p:nvSpPr>
        <p:spPr>
          <a:xfrm>
            <a:off x="4800600" y="5925312"/>
            <a:ext cx="6263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Dobre praktyki, typowe błędy, rekomendacje wdrożeniowe.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9985248" y="475488"/>
            <a:ext cx="1645920" cy="384048"/>
          </a:xfrm>
          <a:prstGeom prst="roundRect">
            <a:avLst>
              <a:gd name="adj" fmla="val 35714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40112" y="585216"/>
            <a:ext cx="1536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8 modułów + 3 przerwy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SZKOLENIE NOSQL • DZIEŃ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Migracja z baz relacyjnych: od inwentaryzacji do mapowania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70432"/>
            <a:ext cx="1874520" cy="310896"/>
          </a:xfrm>
          <a:prstGeom prst="roundRect">
            <a:avLst>
              <a:gd name="adj" fmla="val 41176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161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inwentaryzacja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79192" y="1170432"/>
            <a:ext cx="1572768" cy="310896"/>
          </a:xfrm>
          <a:prstGeom prst="roundRect">
            <a:avLst>
              <a:gd name="adj" fmla="val 41176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216152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mapowanie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62272" y="1170432"/>
            <a:ext cx="2011680" cy="310896"/>
          </a:xfrm>
          <a:prstGeom prst="roundRect">
            <a:avLst>
              <a:gd name="adj" fmla="val 41176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21615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projekt modelu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1170432"/>
            <a:ext cx="1737360" cy="310896"/>
          </a:xfrm>
          <a:prstGeom prst="roundRect">
            <a:avLst>
              <a:gd name="adj" fmla="val 41176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21615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analiza ryzyk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1325880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97680" y="1325880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65392" y="1325880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1691640"/>
            <a:ext cx="5074920" cy="4069080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901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Co identyfikujemy przed migracją?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2267712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zbiory danych krytyczne biznesowo i archiwalne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kluczowe zapytania, raporty i wzorce odczytu/zapisu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zależności między tabelami oraz logikę JOIN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reguły jakości danych, słowniki i identyfikatory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ograniczenia czasu przestoju oraz plan rollback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897880" y="1691640"/>
            <a:ext cx="5724144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1901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Najważniejsze różnice: SQL vs NoSQL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53912" y="2212848"/>
            <a:ext cx="1920240" cy="310896"/>
          </a:xfrm>
          <a:prstGeom prst="roundRect">
            <a:avLst>
              <a:gd name="adj" fmla="val 41176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225856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0" y="2212848"/>
            <a:ext cx="1920240" cy="310896"/>
          </a:xfrm>
          <a:prstGeom prst="roundRect">
            <a:avLst>
              <a:gd name="adj" fmla="val 41176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225856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NoSQL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907792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6517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tabela / wiersz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68512" y="265176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dokument / kolekcja lub klucz-partition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217920" y="3236976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9809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JOIN i normalizacja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8668512" y="298094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denormalizacja, embedding, prekompozycja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217920" y="3566160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3101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FK i constraints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8668512" y="331012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walidacja w aplikacji, schemat opcjonalny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6217920" y="3895344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6393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ACID globalnie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668512" y="363931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spójność lokalna, wzorce kompensacyjne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5897880" y="4434840"/>
            <a:ext cx="5724144" cy="1325880"/>
          </a:xfrm>
          <a:prstGeom prst="roundRect">
            <a:avLst>
              <a:gd name="adj" fmla="val 1103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53912" y="46451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</a:rPr>
              <a:t>Ryzyka, które trzeba oswoić przed startem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172200" y="4956048"/>
            <a:ext cx="2240280" cy="310896"/>
          </a:xfrm>
          <a:prstGeom prst="roundRect">
            <a:avLst>
              <a:gd name="adj" fmla="val 41176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500176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utrata relacji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686800" y="4956048"/>
            <a:ext cx="2240280" cy="310896"/>
          </a:xfrm>
          <a:prstGeom prst="roundRect">
            <a:avLst>
              <a:gd name="adj" fmla="val 41176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500176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duplikacja danych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5321808"/>
            <a:ext cx="2240280" cy="310896"/>
          </a:xfrm>
          <a:prstGeom prst="roundRect">
            <a:avLst>
              <a:gd name="adj" fmla="val 41176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536752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spadek wydajności odczytu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686800" y="5321808"/>
            <a:ext cx="2240280" cy="310896"/>
          </a:xfrm>
          <a:prstGeom prst="roundRect">
            <a:avLst>
              <a:gd name="adj" fmla="val 41176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536752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 ścieżki wycofania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4919472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4ED8"/>
                </a:solidFill>
              </a:rPr>
              <a:t>Pytanie kontrolne: czy model NoSQL odpowiada wzorcom użycia, a nie kopiuje relacyjny układ 1:1?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SZKOLENIE NOSQL • DZIEŃ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ETL/ELT i bezpieczny cut-over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13432" y="1956816"/>
            <a:ext cx="310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1956816"/>
            <a:ext cx="310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16168" y="1956816"/>
            <a:ext cx="310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00416" y="1956816"/>
            <a:ext cx="310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57232" y="1956816"/>
            <a:ext cx="2834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232" y="1600200"/>
            <a:ext cx="1600200" cy="713232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82880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</a:rPr>
              <a:t>System źródłowy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2697480" y="1600200"/>
            <a:ext cx="1417320" cy="713232"/>
          </a:xfrm>
          <a:prstGeom prst="roundRect">
            <a:avLst>
              <a:gd name="adj" fmla="val 20513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182880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</a:rPr>
              <a:t>Extract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4498848" y="1600200"/>
            <a:ext cx="1417320" cy="713232"/>
          </a:xfrm>
          <a:prstGeom prst="roundRect">
            <a:avLst>
              <a:gd name="adj" fmla="val 20513"/>
            </a:avLst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82880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</a:rPr>
              <a:t>Staging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6300216" y="1600200"/>
            <a:ext cx="1600200" cy="713232"/>
          </a:xfrm>
          <a:prstGeom prst="roundRect">
            <a:avLst>
              <a:gd name="adj" fmla="val 2051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182880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</a:rPr>
              <a:t>Transform / Load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8284464" y="1600200"/>
            <a:ext cx="1572768" cy="713232"/>
          </a:xfrm>
          <a:prstGeom prst="roundRect">
            <a:avLst>
              <a:gd name="adj" fmla="val 2051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82880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</a:rPr>
              <a:t>NoSQL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10213848" y="1600200"/>
            <a:ext cx="1234440" cy="713232"/>
          </a:xfrm>
          <a:prstGeom prst="roundRect">
            <a:avLst>
              <a:gd name="adj" fmla="val 20513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0" y="1828800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</a:rPr>
              <a:t>Walidacja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713232" y="248716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ETL: transformacja przed załadowaniem. ELT: transformacja po zapisaniu w warstwie docelowej lub pośredniej.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" y="2999232"/>
            <a:ext cx="672084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200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Strategie przełączenia ruchu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3611880"/>
            <a:ext cx="1847088" cy="1353312"/>
          </a:xfrm>
          <a:prstGeom prst="roundRect">
            <a:avLst>
              <a:gd name="adj" fmla="val 1081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" y="3767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Big bang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1014984" y="4050792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szybkie przełączenie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krótszy koszt utrzymania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wyższe ryzyko operacyjne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2980944" y="3611880"/>
            <a:ext cx="1847088" cy="1353312"/>
          </a:xfrm>
          <a:prstGeom prst="roundRect">
            <a:avLst>
              <a:gd name="adj" fmla="val 10811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81528" y="3767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Parallel run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3081528" y="4050792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stary i nowy system równolegle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dobra walidacja porównawcza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wyższy koszt przejścia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5047488" y="3611880"/>
            <a:ext cx="1847088" cy="1353312"/>
          </a:xfrm>
          <a:prstGeom prst="roundRect">
            <a:avLst>
              <a:gd name="adj" fmla="val 10811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3767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11827"/>
                </a:solidFill>
              </a:rPr>
              <a:t>Blue-green / canary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5148072" y="4050792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stopniowe przekierowanie ruchu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łatwiejszy rollback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najbezpieczniejsze dla produkcji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7699248" y="2999232"/>
            <a:ext cx="393192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32004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Walidacja po migracji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936992" y="3611880"/>
            <a:ext cx="1143000" cy="219456"/>
          </a:xfrm>
          <a:prstGeom prst="roundRect">
            <a:avLst>
              <a:gd name="adj" fmla="val 37500"/>
            </a:avLst>
          </a:prstGeom>
          <a:solidFill>
            <a:srgbClr val="EFF6FF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91856" y="3671316"/>
            <a:ext cx="10332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4ED8"/>
                </a:solidFill>
              </a:rPr>
              <a:t>Kompletność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9217152" y="363931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100% rekordów krytycznych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7936992" y="3977640"/>
            <a:ext cx="1143000" cy="219456"/>
          </a:xfrm>
          <a:prstGeom prst="roundRect">
            <a:avLst>
              <a:gd name="adj" fmla="val 37500"/>
            </a:avLst>
          </a:prstGeom>
          <a:solidFill>
            <a:srgbClr val="EFF6FF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91856" y="4037076"/>
            <a:ext cx="10332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4ED8"/>
                </a:solidFill>
              </a:rPr>
              <a:t>Poprawność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9217152" y="400507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sumy kontrolne, hash, próbki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936992" y="4343400"/>
            <a:ext cx="1143000" cy="219456"/>
          </a:xfrm>
          <a:prstGeom prst="roundRect">
            <a:avLst>
              <a:gd name="adj" fmla="val 37500"/>
            </a:avLst>
          </a:prstGeom>
          <a:solidFill>
            <a:srgbClr val="EFF6FF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91856" y="4402836"/>
            <a:ext cx="10332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4ED8"/>
                </a:solidFill>
              </a:rPr>
              <a:t>Wydajność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9217152" y="437083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SLA/SLO dla zapisu i odczytu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7936992" y="4709160"/>
            <a:ext cx="1143000" cy="219456"/>
          </a:xfrm>
          <a:prstGeom prst="roundRect">
            <a:avLst>
              <a:gd name="adj" fmla="val 37500"/>
            </a:avLst>
          </a:prstGeom>
          <a:solidFill>
            <a:srgbClr val="EFF6FF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91856" y="4768596"/>
            <a:ext cx="10332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4ED8"/>
                </a:solidFill>
              </a:rPr>
              <a:t>Rollback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9217152" y="473659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sprawdzony scenariusz powrotu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713232" y="56235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i="1" dirty="0">
                <a:solidFill>
                  <a:srgbClr val="0F766E"/>
                </a:solidFill>
              </a:rPr>
              <a:t>Reguła praktyczna: najpierw próbna migracja, potem walidacja, dopiero później ruch produkcyjny.</a:t>
            </a:r>
            <a:endParaRPr lang="en-US" sz="12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SZKOLENIE NOSQL • DZIEŃ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Integracja z aplikacją: warstwa danych, API i spójność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67712" y="2304288"/>
            <a:ext cx="960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46320" y="2304288"/>
            <a:ext cx="914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33488" y="2304288"/>
            <a:ext cx="914400" cy="-67665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33488" y="2304288"/>
            <a:ext cx="914400" cy="164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33488" y="2304288"/>
            <a:ext cx="914400" cy="9875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" y="1847088"/>
            <a:ext cx="1508760" cy="841248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06654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</a:rPr>
              <a:t>UI / usługi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3218688" y="1847088"/>
            <a:ext cx="1600200" cy="841248"/>
          </a:xfrm>
          <a:prstGeom prst="roundRect">
            <a:avLst>
              <a:gd name="adj" fmla="val 17391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0665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</a:rPr>
              <a:t>API i kontrakty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5760720" y="1847088"/>
            <a:ext cx="1572768" cy="841248"/>
          </a:xfrm>
          <a:prstGeom prst="roundRect">
            <a:avLst>
              <a:gd name="adj" fmla="val 1739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206654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11827"/>
                </a:solidFill>
              </a:rPr>
              <a:t>Warstwa dostępu do danych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8284464" y="1225296"/>
            <a:ext cx="1536192" cy="658368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1435608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</a:rPr>
              <a:t>Cache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284464" y="2212848"/>
            <a:ext cx="1536192" cy="658368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242316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</a:rPr>
              <a:t>Baza NoSQL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8284464" y="3200400"/>
            <a:ext cx="1536192" cy="658368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341071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</a:rPr>
              <a:t>Broker / event bus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749808" y="3886200"/>
            <a:ext cx="50749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41148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827"/>
                </a:solidFill>
              </a:rPr>
              <a:t>Na styku aplikacji i NoSQL szczególnie pilnujemy: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69264" y="4443984"/>
            <a:ext cx="4498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jawnej serializacji i wersjonowania kontraktów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idempotentnych zapisów oraz bezpiecznych retry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obsługi błędów częściowych i timeoutów w sieci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wzorców outbox, saga lub kompensacji zamiast JOIN + transakcji globalnej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9904" y="3886200"/>
            <a:ext cx="5541264" cy="1417320"/>
          </a:xfrm>
          <a:prstGeom prst="roundRect">
            <a:avLst>
              <a:gd name="adj" fmla="val 1032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41148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827"/>
                </a:solidFill>
              </a:rPr>
              <a:t>Spójność w systemach rozproszonych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355080" y="446227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D4ED8"/>
                </a:solidFill>
              </a:rPr>
              <a:t>silna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7360920" y="4462272"/>
            <a:ext cx="3767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gdy proces wymaga natychmiastowej poprawności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6355080" y="470001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D4ED8"/>
                </a:solidFill>
              </a:rPr>
              <a:t>eventual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7360920" y="4700016"/>
            <a:ext cx="3767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gdy można zaakceptować krótkie opóźnienie synchronizacji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6355080" y="493776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D4ED8"/>
                </a:solidFill>
              </a:rPr>
              <a:t>lokalna + kompensacja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60920" y="4937760"/>
            <a:ext cx="3767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gdy jedna operacja uruchamia kolejne kroki w innych usługach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SZKOLENIE NOSQL • DZIEŃ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Architektura docelowa: technologia, środowiska i bezpieczeństwo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2788920" cy="3246120"/>
          </a:xfrm>
          <a:prstGeom prst="roundRect">
            <a:avLst>
              <a:gd name="adj" fmla="val 5246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7190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Kryteria wyboru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221284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danych i wzorce zapytań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/ throughput / skalowalność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poziom spójności i HA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koszt operacyjny i kompetencje zespołu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041648" y="1463040"/>
            <a:ext cx="2788920" cy="3246120"/>
          </a:xfrm>
          <a:prstGeom prst="roundRect">
            <a:avLst>
              <a:gd name="adj" fmla="val 5246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17190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Środowiska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15968" y="221284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i TEST do iteracji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 do odbioru biznesowego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 z monitoringiem i backupem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IaC, CI/CD oraz konfiguracja jako kod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424928" y="1463040"/>
            <a:ext cx="2788920" cy="3246120"/>
          </a:xfrm>
          <a:prstGeom prst="roundRect">
            <a:avLst>
              <a:gd name="adj" fmla="val 5246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6096" y="17190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Bezpieczeństwo i utrzymanie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99248" y="2212848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IAM, role i separacja sekretów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szyfrowanie w spoczynku i w tranzycie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backup, restore, DR i retencja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metryki, logi, alerty i patching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914400" y="4919472"/>
            <a:ext cx="10332720" cy="420624"/>
          </a:xfrm>
          <a:prstGeom prst="roundRect">
            <a:avLst>
              <a:gd name="adj" fmla="val 3043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047488"/>
            <a:ext cx="1005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</a:rPr>
              <a:t>Dobra architektura docelowa = właściwy model danych + przewidywalna operacyjność + bezpieczeństwo od początku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1554480" y="5650992"/>
            <a:ext cx="914400" cy="310896"/>
          </a:xfrm>
          <a:prstGeom prst="roundRect">
            <a:avLst>
              <a:gd name="adj" fmla="val 41176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569671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63240" y="5650992"/>
            <a:ext cx="914400" cy="310896"/>
          </a:xfrm>
          <a:prstGeom prst="roundRect">
            <a:avLst>
              <a:gd name="adj" fmla="val 41176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569671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90288" y="5650992"/>
            <a:ext cx="1280160" cy="310896"/>
          </a:xfrm>
          <a:prstGeom prst="roundRect">
            <a:avLst>
              <a:gd name="adj" fmla="val 41176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569671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10528" y="5650992"/>
            <a:ext cx="1005840" cy="310896"/>
          </a:xfrm>
          <a:prstGeom prst="roundRect">
            <a:avLst>
              <a:gd name="adj" fmla="val 41176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569671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Go-live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83880" y="565099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569671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Hypercare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87168" y="580644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95928" y="580644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16168" y="580644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562088" y="5806440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SZKOLENIE NOSQL • DZIEŃ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wdrożenia: etapy, role i odbiór rozwiązania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</a:rPr>
              <a:t>Wdrożenie warto traktować jako sterowany eksperyment z jasno zdefiniowanymi kryteriami przejścia między etapami.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88720" y="1993392"/>
            <a:ext cx="10789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993392"/>
            <a:ext cx="10789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1993392"/>
            <a:ext cx="10789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37960" y="1993392"/>
            <a:ext cx="10789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321040" y="1993392"/>
            <a:ext cx="10789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007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Przygotowanie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25420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zakres, dane, ryzyka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468880" y="1554480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7007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22402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PoC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103120" y="25420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walidacja modelu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251960" y="1554480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7007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22402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Próba migracji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86200" y="25420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test wydajności i jakości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035040" y="1554480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7007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22402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Pilot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0" y="25420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ograniczony ruch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818120" y="1554480"/>
            <a:ext cx="502920" cy="50292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17007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22402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Go-live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52360" y="25420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cut-over + monitoring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9601200" y="1554480"/>
            <a:ext cx="502920" cy="50292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17007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72600" y="22402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Hypercare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35440" y="25420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75569"/>
                </a:solidFill>
              </a:rPr>
              <a:t>stabilizacja i poprawki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76656" y="3291840"/>
            <a:ext cx="5102352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5295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Role interesariuszy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50976" y="391363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D4ED8"/>
                </a:solidFill>
              </a:rPr>
              <a:t>Sponsor biznesowy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2606040" y="3913632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priorytety, budżet, akceptacja ryzyka</a:t>
            </a:r>
            <a:endParaRPr lang="en-US" sz="1060" dirty="0"/>
          </a:p>
        </p:txBody>
      </p:sp>
      <p:sp>
        <p:nvSpPr>
          <p:cNvPr id="40" name="Text 38"/>
          <p:cNvSpPr/>
          <p:nvPr/>
        </p:nvSpPr>
        <p:spPr>
          <a:xfrm>
            <a:off x="950976" y="42245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D4ED8"/>
                </a:solidFill>
              </a:rPr>
              <a:t>Architekt / lider techniczny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2606040" y="4224528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decyzje projektowe i standardy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950976" y="45354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D4ED8"/>
                </a:solidFill>
              </a:rPr>
              <a:t>DevOps / SRE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2606040" y="4535424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środowiska, monitoring, backup, rollback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950976" y="484632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D4ED8"/>
                </a:solidFill>
              </a:rPr>
              <a:t>QA / analityk biznesowy</a:t>
            </a:r>
            <a:endParaRPr lang="en-US" sz="1060" dirty="0"/>
          </a:p>
        </p:txBody>
      </p:sp>
      <p:sp>
        <p:nvSpPr>
          <p:cNvPr id="45" name="Text 43"/>
          <p:cNvSpPr/>
          <p:nvPr/>
        </p:nvSpPr>
        <p:spPr>
          <a:xfrm>
            <a:off x="2606040" y="4846320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testy, UAT, odbiór funkcjonalny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6053328" y="3291840"/>
            <a:ext cx="5486400" cy="1965960"/>
          </a:xfrm>
          <a:prstGeom prst="roundRect">
            <a:avLst>
              <a:gd name="adj" fmla="val 744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3529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Plan testów i odbioru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327648" y="391363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59669"/>
                </a:solidFill>
              </a:rPr>
              <a:t>funkcjonalne</a:t>
            </a:r>
            <a:endParaRPr lang="en-US" sz="1060" dirty="0"/>
          </a:p>
        </p:txBody>
      </p:sp>
      <p:sp>
        <p:nvSpPr>
          <p:cNvPr id="49" name="Text 47"/>
          <p:cNvSpPr/>
          <p:nvPr/>
        </p:nvSpPr>
        <p:spPr>
          <a:xfrm>
            <a:off x="7452360" y="391363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czy scenariusze biznesowe działają bez regresji</a:t>
            </a:r>
            <a:endParaRPr lang="en-US" sz="1060" dirty="0"/>
          </a:p>
        </p:txBody>
      </p:sp>
      <p:sp>
        <p:nvSpPr>
          <p:cNvPr id="50" name="Text 48"/>
          <p:cNvSpPr/>
          <p:nvPr/>
        </p:nvSpPr>
        <p:spPr>
          <a:xfrm>
            <a:off x="6327648" y="422452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59669"/>
                </a:solidFill>
              </a:rPr>
              <a:t>integracyjne</a:t>
            </a:r>
            <a:endParaRPr lang="en-US" sz="1060" dirty="0"/>
          </a:p>
        </p:txBody>
      </p:sp>
      <p:sp>
        <p:nvSpPr>
          <p:cNvPr id="51" name="Text 49"/>
          <p:cNvSpPr/>
          <p:nvPr/>
        </p:nvSpPr>
        <p:spPr>
          <a:xfrm>
            <a:off x="7452360" y="422452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czy API, zdarzenia i kontrakty są zgodne</a:t>
            </a:r>
            <a:endParaRPr lang="en-US" sz="1060" dirty="0"/>
          </a:p>
        </p:txBody>
      </p:sp>
      <p:sp>
        <p:nvSpPr>
          <p:cNvPr id="52" name="Text 50"/>
          <p:cNvSpPr/>
          <p:nvPr/>
        </p:nvSpPr>
        <p:spPr>
          <a:xfrm>
            <a:off x="6327648" y="453542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59669"/>
                </a:solidFill>
              </a:rPr>
              <a:t>wydajnościowe</a:t>
            </a:r>
            <a:endParaRPr lang="en-US" sz="1060" dirty="0"/>
          </a:p>
        </p:txBody>
      </p:sp>
      <p:sp>
        <p:nvSpPr>
          <p:cNvPr id="53" name="Text 51"/>
          <p:cNvSpPr/>
          <p:nvPr/>
        </p:nvSpPr>
        <p:spPr>
          <a:xfrm>
            <a:off x="7452360" y="453542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czy nowa baza spełnia zakładane SLA/SLO</a:t>
            </a:r>
            <a:endParaRPr lang="en-US" sz="1060" dirty="0"/>
          </a:p>
        </p:txBody>
      </p:sp>
      <p:sp>
        <p:nvSpPr>
          <p:cNvPr id="54" name="Text 52"/>
          <p:cNvSpPr/>
          <p:nvPr/>
        </p:nvSpPr>
        <p:spPr>
          <a:xfrm>
            <a:off x="6327648" y="484632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59669"/>
                </a:solidFill>
              </a:rPr>
              <a:t>operacyjne</a:t>
            </a:r>
            <a:endParaRPr lang="en-US" sz="1060" dirty="0"/>
          </a:p>
        </p:txBody>
      </p:sp>
      <p:sp>
        <p:nvSpPr>
          <p:cNvPr id="55" name="Text 53"/>
          <p:cNvSpPr/>
          <p:nvPr/>
        </p:nvSpPr>
        <p:spPr>
          <a:xfrm>
            <a:off x="7452360" y="484632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czy backup, restore i alarmy działają w praktyce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SZKOLENIE NOSQL • DZIEŃ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Studium przypadku: portal usług studenckich oparty o NoSQL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2743200" cy="452628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Wymagania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59352" y="1417320"/>
            <a:ext cx="2743200" cy="452628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2232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Architektura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0336" y="1417320"/>
            <a:ext cx="2743200" cy="452628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43216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Plan wdrożeniowy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21488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studenta i status spraw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zgłoszenia z załącznikami i komentarzami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dużo odczytów, okresowe skoki zapisów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zmian i powiadomienia zdarzeniowe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96112" y="397764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Wniosek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42062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naturalnie pasuje model dokumentowy z osobnymi kolekcjami dla zgłoszeń, profili i strumienia zdarzeń.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187952" y="2084832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Warstwy: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87952" y="2304288"/>
            <a:ext cx="22494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REST / GraphQL dla aplikacji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repozytoria i walidacja schematu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baza dokumentowa dla spraw i profili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zdarzeń dla notyfikacji i audytu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187952" y="404164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Klucz decyzji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87952" y="42702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model pod dostęp do pełnej sprawy jednym odczytem, bez ciężkich JOIN.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498080" y="2148840"/>
            <a:ext cx="22128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1: migracja słowników i profili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2: nowe zgłoszenia w modelu dual-write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3: odczyt z NoSQL, potem pełny cut-over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faza 4: hypercare i wyłączenie starej ścieżki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498080" y="404164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Warunek odbioru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270248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zgodność danych, czas odpowiedzi, brak utraty zgłoszeń i potwierdzony rollback.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3529584" y="361188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30568" y="3611880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SZKOLENIE NOSQL • DZIEŃ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Dobre praktyki i najczęstsze błędy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353312"/>
            <a:ext cx="5303520" cy="4023360"/>
          </a:xfrm>
          <a:prstGeom prst="roundRect">
            <a:avLst>
              <a:gd name="adj" fmla="val 3636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68" y="1353312"/>
            <a:ext cx="5303520" cy="4023360"/>
          </a:xfrm>
          <a:prstGeom prst="roundRect">
            <a:avLst>
              <a:gd name="adj" fmla="val 363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27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Dobre praktyki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82512" y="1627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Typowe błędy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084832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modelowanie pod wzorce dostępu, a nie pod dawny schemat tabel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małe iteracje: PoC, próba migracji, pilot, dopiero potem produkcja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automatyczna walidacja danych oraz testy wydajności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jawne wersjonowanie API i formatów zdarzeń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metryki operacyjne od pierwszego dnia: latency, error rate, backup, restore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6382512" y="2084832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kopiowanie 1:1 relacyjnego modelu do dokumentów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 planu rollback i nieprzećwiczony cut-over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pominięcie jakości danych źródłowych przed migracją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zbyt duża wiara w eventual consistency bez kompensacji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13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niedoszacowanie odpowiedzialności operacyjnej po wdrożeniu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1143000" y="5504688"/>
            <a:ext cx="9921240" cy="384048"/>
          </a:xfrm>
          <a:prstGeom prst="roundRect">
            <a:avLst>
              <a:gd name="adj" fmla="val 3333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5623560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FFFFFF"/>
                </a:solidFill>
              </a:rPr>
              <a:t>Migracja do NoSQL to nie tylko zmiana silnika bazy, lecz przebudowa sposobu przechowywania, integracji i utrzymania danych.</a:t>
            </a:r>
            <a:endParaRPr lang="en-US" sz="13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SZKOLENIE NOSQL • DZIEŃ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Podsumowanie dnia: 5 pytań kontrolnych przed produkcją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325880"/>
            <a:ext cx="5102352" cy="9144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1490472"/>
            <a:ext cx="512064" cy="51206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550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27632" y="15819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827"/>
                </a:solidFill>
              </a:rPr>
              <a:t>Czy znamy wzorce odczytu i zapisu?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327648" y="1325880"/>
            <a:ext cx="5102352" cy="914400"/>
          </a:xfrm>
          <a:prstGeom prst="roundRect">
            <a:avLst>
              <a:gd name="adj" fmla="val 16000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8816" y="1490472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6550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05472" y="158191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827"/>
                </a:solidFill>
              </a:rPr>
              <a:t>Czy migracja została zwalidowana na danych próbnych?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749808" y="2578608"/>
            <a:ext cx="5102352" cy="9144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274320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290779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27632" y="283464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827"/>
                </a:solidFill>
              </a:rPr>
              <a:t>Czy aplikacja obsługuje retry, błędy i kompensacje?</a:t>
            </a:r>
            <a:endParaRPr lang="en-US" sz="1620" dirty="0"/>
          </a:p>
        </p:txBody>
      </p:sp>
      <p:sp>
        <p:nvSpPr>
          <p:cNvPr id="18" name="Shape 16"/>
          <p:cNvSpPr/>
          <p:nvPr/>
        </p:nvSpPr>
        <p:spPr>
          <a:xfrm>
            <a:off x="6327648" y="2578608"/>
            <a:ext cx="5102352" cy="9144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2743200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290779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05472" y="283464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827"/>
                </a:solidFill>
              </a:rPr>
              <a:t>Czy istnieje plan testów, odbioru i rollback?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749808" y="3831336"/>
            <a:ext cx="10972800" cy="9144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" y="3995928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160520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27632" y="408736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11827"/>
                </a:solidFill>
              </a:rPr>
              <a:t>Czy monitoring oraz backup są gotowe na dzień startu?</a:t>
            </a:r>
            <a:endParaRPr lang="en-US" sz="1620" dirty="0"/>
          </a:p>
        </p:txBody>
      </p:sp>
      <p:sp>
        <p:nvSpPr>
          <p:cNvPr id="26" name="Shape 24"/>
          <p:cNvSpPr/>
          <p:nvPr/>
        </p:nvSpPr>
        <p:spPr>
          <a:xfrm>
            <a:off x="749808" y="5440680"/>
            <a:ext cx="10972800" cy="64008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65099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11827"/>
                </a:solidFill>
              </a:rPr>
              <a:t>Gotowość produkcyjna pojawia się wtedy, gdy model danych, integracja i operacyjność są równie dobrze zaprojektowane.</a:t>
            </a:r>
            <a:endParaRPr lang="en-US" sz="15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2344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Pytania i dyskusja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" y="2148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3FF"/>
                </a:solidFill>
              </a:rPr>
              <a:t>Podsumujmy decyzje projektowe, ryzyka migracji i praktyki, które warto zabrać do własnych wdrożeń.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9808" y="4434840"/>
            <a:ext cx="2788920" cy="384048"/>
          </a:xfrm>
          <a:prstGeom prst="roundRect">
            <a:avLst>
              <a:gd name="adj" fmla="val 38095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4553712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dziękuję za uwagę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60920" y="109728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b="1" dirty="0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17000" dirty="0"/>
          </a:p>
        </p:txBody>
      </p:sp>
      <p:sp>
        <p:nvSpPr>
          <p:cNvPr id="7" name="Shape 5"/>
          <p:cNvSpPr/>
          <p:nvPr/>
        </p:nvSpPr>
        <p:spPr>
          <a:xfrm>
            <a:off x="7635240" y="5257800"/>
            <a:ext cx="28346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5577840"/>
            <a:ext cx="20574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14455" y="6400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5FF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Szkolenie NoSQL - Dzień 3: Migracja, integracja i wdrożenie</dc:title>
  <dc:subject>Szkolenie NoSQL - Dzień 3</dc:subject>
  <dc:creator>OpenAI</dc:creator>
  <cp:lastModifiedBy>OpenAI</cp:lastModifiedBy>
  <cp:revision>1</cp:revision>
  <dcterms:created xsi:type="dcterms:W3CDTF">2026-04-09T05:35:23Z</dcterms:created>
  <dcterms:modified xsi:type="dcterms:W3CDTF">2026-04-09T05:35:23Z</dcterms:modified>
</cp:coreProperties>
</file>